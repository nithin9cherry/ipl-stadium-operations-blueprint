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Lato"/>
      <p:regular r:id="rId22"/>
      <p:bold r:id="rId23"/>
      <p:italic r:id="rId24"/>
      <p:boldItalic r:id="rId25"/>
    </p:embeddedFont>
    <p:embeddedFont>
      <p:font typeface="Poppi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FCC9D8-68F6-4585-907C-F7658FB025C6}">
  <a:tblStyle styleId="{F4FCC9D8-68F6-4585-907C-F7658FB025C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ato-regular.fntdata"/><Relationship Id="rId21" Type="http://schemas.openxmlformats.org/officeDocument/2006/relationships/slide" Target="slides/slide15.xml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11" Type="http://schemas.openxmlformats.org/officeDocument/2006/relationships/image" Target="../media/image10.png"/><Relationship Id="rId10" Type="http://schemas.openxmlformats.org/officeDocument/2006/relationships/image" Target="../media/image13.png"/><Relationship Id="rId9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22.png"/><Relationship Id="rId8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49.png"/><Relationship Id="rId5" Type="http://schemas.openxmlformats.org/officeDocument/2006/relationships/image" Target="../media/image34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38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5" Type="http://schemas.openxmlformats.org/officeDocument/2006/relationships/image" Target="../media/image37.png"/><Relationship Id="rId6" Type="http://schemas.openxmlformats.org/officeDocument/2006/relationships/image" Target="../media/image43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11" Type="http://schemas.openxmlformats.org/officeDocument/2006/relationships/image" Target="../media/image57.jpg"/><Relationship Id="rId10" Type="http://schemas.openxmlformats.org/officeDocument/2006/relationships/image" Target="../media/image53.png"/><Relationship Id="rId9" Type="http://schemas.openxmlformats.org/officeDocument/2006/relationships/image" Target="../media/image30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42.png"/><Relationship Id="rId8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10" Type="http://schemas.openxmlformats.org/officeDocument/2006/relationships/image" Target="../media/image39.jpg"/><Relationship Id="rId9" Type="http://schemas.openxmlformats.org/officeDocument/2006/relationships/image" Target="../media/image41.png"/><Relationship Id="rId5" Type="http://schemas.openxmlformats.org/officeDocument/2006/relationships/image" Target="../media/image36.png"/><Relationship Id="rId6" Type="http://schemas.openxmlformats.org/officeDocument/2006/relationships/image" Target="../media/image52.png"/><Relationship Id="rId7" Type="http://schemas.openxmlformats.org/officeDocument/2006/relationships/image" Target="../media/image60.png"/><Relationship Id="rId8" Type="http://schemas.openxmlformats.org/officeDocument/2006/relationships/image" Target="../media/image4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11" Type="http://schemas.openxmlformats.org/officeDocument/2006/relationships/image" Target="../media/image62.png"/><Relationship Id="rId10" Type="http://schemas.openxmlformats.org/officeDocument/2006/relationships/image" Target="../media/image48.png"/><Relationship Id="rId9" Type="http://schemas.openxmlformats.org/officeDocument/2006/relationships/image" Target="../media/image51.png"/><Relationship Id="rId5" Type="http://schemas.openxmlformats.org/officeDocument/2006/relationships/image" Target="../media/image47.png"/><Relationship Id="rId6" Type="http://schemas.openxmlformats.org/officeDocument/2006/relationships/image" Target="../media/image56.png"/><Relationship Id="rId7" Type="http://schemas.openxmlformats.org/officeDocument/2006/relationships/image" Target="../media/image46.png"/><Relationship Id="rId8" Type="http://schemas.openxmlformats.org/officeDocument/2006/relationships/image" Target="../media/image5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5.png"/><Relationship Id="rId4" Type="http://schemas.openxmlformats.org/officeDocument/2006/relationships/image" Target="../media/image63.png"/><Relationship Id="rId9" Type="http://schemas.openxmlformats.org/officeDocument/2006/relationships/image" Target="../media/image50.png"/><Relationship Id="rId5" Type="http://schemas.openxmlformats.org/officeDocument/2006/relationships/image" Target="../media/image58.png"/><Relationship Id="rId6" Type="http://schemas.openxmlformats.org/officeDocument/2006/relationships/image" Target="../media/image45.png"/><Relationship Id="rId7" Type="http://schemas.openxmlformats.org/officeDocument/2006/relationships/image" Target="../media/image44.png"/><Relationship Id="rId8" Type="http://schemas.openxmlformats.org/officeDocument/2006/relationships/image" Target="../media/image5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875" y="4595812"/>
            <a:ext cx="428625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257550" y="3652837"/>
            <a:ext cx="56769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Rajiv Gandhi International Cricket Stadium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681162"/>
            <a:ext cx="11601450" cy="1781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75" u="none" cap="none" strike="noStrike">
                <a:solidFill>
                  <a:srgbClr val="FF6B00"/>
                </a:solidFill>
                <a:latin typeface="Poppins"/>
                <a:ea typeface="Poppins"/>
                <a:cs typeface="Poppins"/>
                <a:sym typeface="Poppins"/>
              </a:rPr>
              <a:t>IPL Stadium Operations Blueprint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24037"/>
            <a:ext cx="5286375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2225" y="1862137"/>
            <a:ext cx="5210175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194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956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719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4817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09625" y="571500"/>
            <a:ext cx="1135141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2967037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Comprehensive stadium logistics blueprint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3443287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End-to-end fan journey management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3919537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Safety-first approach for massive crowds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4395787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Resource optimization for IPL fixtures</a:t>
            </a:r>
            <a:endParaRPr/>
          </a:p>
        </p:txBody>
      </p:sp>
      <p:pic>
        <p:nvPicPr>
          <p:cNvPr descr="চিত্র:Uppal stadium Rajiv Gandhi International Cricket ..." id="105" name="Google Shape;10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72225" y="1824025"/>
            <a:ext cx="5210173" cy="422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24037"/>
            <a:ext cx="5286375" cy="4191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2" name="Google Shape;112;p15"/>
          <p:cNvGraphicFramePr/>
          <p:nvPr/>
        </p:nvGraphicFramePr>
        <p:xfrm>
          <a:off x="571500" y="23574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{F4FCC9D8-68F6-4585-907C-F7658FB025C6}</a:tableStyleId>
              </a:tblPr>
              <a:tblGrid>
                <a:gridCol w="2185975"/>
                <a:gridCol w="3100375"/>
              </a:tblGrid>
              <a:tr h="62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D1B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D1B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Information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B00"/>
                    </a:solidFill>
                  </a:tcPr>
                </a:tc>
              </a:tr>
              <a:tr h="62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0E1D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League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1D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Indian Premier League (IPL)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2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1D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1D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Hyderabad, India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2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1D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Host Team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1D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Sunrisers Hyderabad (SRH)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2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1D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Stadium Capacity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1D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38,000+ Spectators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13" name="Google Shape;113;p15"/>
          <p:cNvSpPr/>
          <p:nvPr/>
        </p:nvSpPr>
        <p:spPr>
          <a:xfrm>
            <a:off x="571500" y="3028950"/>
            <a:ext cx="21859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2757487" y="3028950"/>
            <a:ext cx="31003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2225" y="1862137"/>
            <a:ext cx="5210175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/>
          <p:nvPr/>
        </p:nvSpPr>
        <p:spPr>
          <a:xfrm>
            <a:off x="571500" y="3638550"/>
            <a:ext cx="21859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2757487" y="3638550"/>
            <a:ext cx="31003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571500" y="4248150"/>
            <a:ext cx="21859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2757487" y="4248150"/>
            <a:ext cx="31003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571500" y="4857750"/>
            <a:ext cx="21859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2757487" y="4857750"/>
            <a:ext cx="31003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571500" y="5467350"/>
            <a:ext cx="21859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2757487" y="5467350"/>
            <a:ext cx="31003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809625" y="571500"/>
            <a:ext cx="1135141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EVENT DETAILS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47850"/>
            <a:ext cx="5286375" cy="414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24037"/>
            <a:ext cx="5286375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228850"/>
            <a:ext cx="47148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924175"/>
            <a:ext cx="47148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3619500"/>
            <a:ext cx="47148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250" y="4314825"/>
            <a:ext cx="47148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250" y="5010150"/>
            <a:ext cx="47148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72225" y="1862137"/>
            <a:ext cx="5210175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809625" y="571500"/>
            <a:ext cx="1135141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GATE MANAGEMENT STRATEGY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6087" y="2514600"/>
            <a:ext cx="26670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86087" y="3619500"/>
            <a:ext cx="26670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86087" y="4724400"/>
            <a:ext cx="26670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8912" y="2514600"/>
            <a:ext cx="26670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8912" y="3619500"/>
            <a:ext cx="26670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8912" y="4724400"/>
            <a:ext cx="266700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5938837" y="3857625"/>
            <a:ext cx="3143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↓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2986087" y="3209925"/>
            <a:ext cx="2667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↓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2986087" y="4314825"/>
            <a:ext cx="2667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↓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538912" y="3209925"/>
            <a:ext cx="2667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↓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538912" y="4314825"/>
            <a:ext cx="2667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↓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09625" y="571500"/>
            <a:ext cx="1135141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CROWD FLOW MANAGEMENT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0025"/>
            <a:ext cx="11049000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571500" y="2981325"/>
            <a:ext cx="11049000" cy="5715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1933575"/>
            <a:ext cx="24306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3 PM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1672530" y="25908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3444180" y="1933575"/>
            <a:ext cx="24306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4 PM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4545210" y="25908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6316860" y="1933575"/>
            <a:ext cx="24306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5:30 PM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7417891" y="25908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9189541" y="1933575"/>
            <a:ext cx="24306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6 PM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10290571" y="25908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809625" y="571500"/>
            <a:ext cx="1135141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MATCH DAY TIMELINE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962025" y="4400550"/>
            <a:ext cx="102679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BA08"/>
                </a:solidFill>
                <a:latin typeface="Lato"/>
                <a:ea typeface="Lato"/>
                <a:cs typeface="Lato"/>
                <a:sym typeface="Lato"/>
              </a:rPr>
              <a:t>Operations teams must synchronize their schedules to ensure security sweeps are finalized before 3 PM. Effective transition management from pre-match warm-ups to the live broadcast start is critical for stadium success.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571500" y="3152775"/>
            <a:ext cx="243066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Gates Open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3444180" y="3152775"/>
            <a:ext cx="243066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Tech Checks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316860" y="3152775"/>
            <a:ext cx="243066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The Toss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9189541" y="3152775"/>
            <a:ext cx="243066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Match Start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24037"/>
            <a:ext cx="5286375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2225" y="1862137"/>
            <a:ext cx="5210175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19250" y="266700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33887" y="2667000"/>
            <a:ext cx="3238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19250" y="422910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81500" y="422910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809625" y="571500"/>
            <a:ext cx="1135141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VENDOR MANAGEMENT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708421" y="3286125"/>
            <a:ext cx="225028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Food Stalls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3470671" y="3286125"/>
            <a:ext cx="225028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Water Points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08421" y="4848225"/>
            <a:ext cx="225028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Merch Zones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3470671" y="4848225"/>
            <a:ext cx="225028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Sponsors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6512"/>
            <a:ext cx="1104900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76512"/>
            <a:ext cx="5286375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809625" y="571500"/>
            <a:ext cx="1135141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VOLUNTEER DEPLOYMENT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6602015" y="2957512"/>
            <a:ext cx="4750593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100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715125" y="4538662"/>
            <a:ext cx="4524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TOTAL ACTIVE DEPLOYMENT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24037"/>
            <a:ext cx="5286375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62150"/>
            <a:ext cx="52863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67050"/>
            <a:ext cx="52863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71950"/>
            <a:ext cx="52863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276850"/>
            <a:ext cx="5286375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571500" y="2657475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↓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571500" y="3762375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↓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571500" y="4867275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↓</a:t>
            </a:r>
            <a:endParaRPr/>
          </a:p>
        </p:txBody>
      </p:sp>
      <p:pic>
        <p:nvPicPr>
          <p:cNvPr descr="image.png" id="222" name="Google Shape;222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72225" y="1862137"/>
            <a:ext cx="5210175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809625" y="571500"/>
            <a:ext cx="1135141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MEDICAL &amp; EMERGENCY OPERATIONS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24037"/>
            <a:ext cx="5286375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885950"/>
            <a:ext cx="52863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52725"/>
            <a:ext cx="52863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619500"/>
            <a:ext cx="52863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86275"/>
            <a:ext cx="52863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353050"/>
            <a:ext cx="52863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72225" y="1862137"/>
            <a:ext cx="18192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09625" y="571500"/>
            <a:ext cx="1135141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SECURITY OPERATIONS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ar View of a Balding Man Walking Through an Airport Metal Detector (provided by Getty Images)" id="239" name="Google Shape;239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372225" y="1725075"/>
            <a:ext cx="5286374" cy="441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24037"/>
            <a:ext cx="5286375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62150"/>
            <a:ext cx="52863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67050"/>
            <a:ext cx="52863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71950"/>
            <a:ext cx="52863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276850"/>
            <a:ext cx="5286375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571500" y="2657475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↓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571500" y="3762375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↓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571500" y="4867275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↓</a:t>
            </a:r>
            <a:endParaRPr/>
          </a:p>
        </p:txBody>
      </p:sp>
      <p:pic>
        <p:nvPicPr>
          <p:cNvPr descr="image.png" id="253" name="Google Shape;253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72225" y="1862137"/>
            <a:ext cx="17621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809625" y="571500"/>
            <a:ext cx="1135141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EXIT STRATEGY</a:t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:Headingley Carnegie Stadium 8 July 2017 Hutton Gates.jpg ..." id="256" name="Google Shape;256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22100" y="1778113"/>
            <a:ext cx="5710426" cy="42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24037"/>
            <a:ext cx="5286375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76550"/>
            <a:ext cx="25717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86125" y="2876550"/>
            <a:ext cx="25717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619500"/>
            <a:ext cx="25717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86125" y="3619500"/>
            <a:ext cx="25717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362450"/>
            <a:ext cx="25717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86125" y="4362450"/>
            <a:ext cx="25717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72225" y="1862137"/>
            <a:ext cx="5210175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809625" y="571500"/>
            <a:ext cx="1135141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POST-MATCH REVIEW</a:t>
            </a:r>
            <a:endParaRPr/>
          </a:p>
        </p:txBody>
      </p:sp>
      <p:sp>
        <p:nvSpPr>
          <p:cNvPr id="271" name="Google Shape;271;p24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5" y="2466975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3112" y="2466975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44062" y="246697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6925" y="4419600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81687" y="441960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4062" y="441960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809625" y="571500"/>
            <a:ext cx="1135141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LEARNINGS</a:t>
            </a:r>
            <a:endParaRPr/>
          </a:p>
        </p:txBody>
      </p:sp>
      <p:sp>
        <p:nvSpPr>
          <p:cNvPr id="284" name="Google Shape;284;p25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52500" y="3086100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Crowd Dynamics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4714875" y="3086100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Response Agility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8477250" y="3086100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Security Focus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952500" y="5038725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Communication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4714875" y="5038725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Stadium Ops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8477250" y="5038725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Event Data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6"/>
          <p:cNvSpPr txBox="1"/>
          <p:nvPr/>
        </p:nvSpPr>
        <p:spPr>
          <a:xfrm>
            <a:off x="5155882" y="2278558"/>
            <a:ext cx="188023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1571625" y="3116758"/>
            <a:ext cx="904875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A comprehensive IPL stadium operations blueprint designed to ensure safe, efficient, and successful match-day execution through structured planning, coordination, and continuous improvement.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"/>
          <p:cNvSpPr txBox="1"/>
          <p:nvPr/>
        </p:nvSpPr>
        <p:spPr>
          <a:xfrm>
            <a:off x="1666875" y="6136481"/>
            <a:ext cx="9953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